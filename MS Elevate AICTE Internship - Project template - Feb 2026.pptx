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14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77" r:id="rId10"/>
    <p:sldId id="579" r:id="rId11"/>
    <p:sldId id="578" r:id="rId12"/>
    <p:sldId id="536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A751"/>
    <a:srgbClr val="263570"/>
    <a:srgbClr val="4A9DE2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3818" autoAdjust="0"/>
  </p:normalViewPr>
  <p:slideViewPr>
    <p:cSldViewPr snapToGrid="0" showGuides="1">
      <p:cViewPr varScale="1">
        <p:scale>
          <a:sx n="98" d="100"/>
          <a:sy n="98" d="100"/>
        </p:scale>
        <p:origin x="77" y="211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21/03/2026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/>
          <p:cNvSpPr>
            <a:spLocks noGrp="1"/>
          </p:cNvSpPr>
          <p:nvPr/>
        </p:nvSpPr>
        <p:spPr>
          <a:xfrm>
            <a:off x="517379" y="1343054"/>
            <a:ext cx="4746772" cy="2506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kern="1200" dirty="0">
                <a:latin typeface="+mj-lt"/>
                <a:ea typeface="+mj-ea"/>
                <a:cs typeface="+mj-cs"/>
              </a:rPr>
              <a:t>CAPSTONE </a:t>
            </a:r>
            <a:r>
              <a:rPr lang="en-US" sz="2800" b="1" dirty="0"/>
              <a:t>PROJECT</a:t>
            </a:r>
            <a:endParaRPr lang="en-US" sz="5100" dirty="0">
              <a:latin typeface="Aptos"/>
            </a:endParaRPr>
          </a:p>
          <a:p>
            <a:pPr algn="l"/>
            <a:br>
              <a:rPr lang="en-US" sz="5100" b="1" dirty="0"/>
            </a:br>
            <a:r>
              <a:rPr lang="en-US" sz="5400" dirty="0"/>
              <a:t>Hotel Booking Cancellation &amp; Revenue Insights Dashboard</a:t>
            </a:r>
            <a:endParaRPr lang="en-US" sz="5100" dirty="0">
              <a:latin typeface="Aptos"/>
            </a:endParaRPr>
          </a:p>
          <a:p>
            <a:pPr algn="l"/>
            <a:endParaRPr lang="en-US" sz="5100" b="1" kern="1200" dirty="0"/>
          </a:p>
        </p:txBody>
      </p:sp>
      <p:sp>
        <p:nvSpPr>
          <p:cNvPr id="5" name="Subtitle 2"/>
          <p:cNvSpPr>
            <a:spLocks noGrp="1"/>
          </p:cNvSpPr>
          <p:nvPr/>
        </p:nvSpPr>
        <p:spPr>
          <a:xfrm>
            <a:off x="594127" y="3739889"/>
            <a:ext cx="4166512" cy="19155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Chandra diwakar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Noida institute of engineering and technology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computer science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0231cs111@niet.co.in</a:t>
            </a:r>
          </a:p>
        </p:txBody>
      </p:sp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4AAE4-811E-C91E-B0B9-DCC8CD9FBC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80743" y="785736"/>
            <a:ext cx="3292125" cy="493818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 panose="020B0604020202020204"/>
                <a:cs typeface="Arial" panose="020B0604020202020204"/>
              </a:rPr>
              <a:t>OUTLINE: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Problem Statement </a:t>
            </a:r>
            <a:r>
              <a:rPr lang="en-US" sz="2200">
                <a:latin typeface="Arial" panose="020B0604020202020204"/>
                <a:cs typeface="Arial" panose="020B0604020202020204"/>
              </a:rPr>
              <a:t>(Should not include solution)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Proposed System/Solution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System Development Approach </a:t>
            </a:r>
            <a:r>
              <a:rPr lang="en-US" sz="2200">
                <a:latin typeface="Arial" panose="020B0604020202020204"/>
                <a:cs typeface="Arial" panose="020B0604020202020204"/>
              </a:rPr>
              <a:t>(Technology Used)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Algorithm &amp; Deployment  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Result (Output Image)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Conclusion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Future Scope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>
                <a:latin typeface="Arial" panose="020B0604020202020204"/>
                <a:cs typeface="Arial" panose="020B0604020202020204"/>
              </a:rPr>
              <a:t>References</a:t>
            </a:r>
            <a:endParaRPr lang="en-US" sz="2200">
              <a:latin typeface="Arial" panose="020B0604020202020204"/>
              <a:cs typeface="Arial" panose="020B0604020202020204"/>
            </a:endParaRPr>
          </a:p>
          <a:p>
            <a:endParaRPr lang="en-GB" sz="2200">
              <a:latin typeface="Aptos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Problem Statement:</a:t>
            </a:r>
            <a:endParaRPr lang="en-US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FCAD6C-642C-1EE8-6FC1-373FE69FD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308" y="1614941"/>
            <a:ext cx="117699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High cancellation rates and unpredictable booking behaviors in the hospitality industry lead to significant revenue loss and operational challenges.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 Hotel management lacks a centralized, real-time view of key metrics like Average Daily Rate (ADR), optimal lead times, and booking channel performance.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Without data-driven insights, hotels struggle to optimize pricing strategies and manage inventory effectively during peak seasons.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Proposed Solution: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FAB4EF-2D80-031D-5BBF-EF42B28F3B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075" y="1952468"/>
            <a:ext cx="1158710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 Overview:</a:t>
            </a:r>
            <a:r>
              <a:rPr lang="en-US" sz="1800" dirty="0"/>
              <a:t> Develop a comprehensive Power BI dashboard to visualize hotel booking data, track cancellations, and analyze revenue metrics in real-time.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Data Collection:</a:t>
            </a:r>
            <a:r>
              <a:rPr lang="en-US" sz="1800" dirty="0"/>
              <a:t> Utilize historical hotel booking datasets containing customer demographics, booking channels, stay duration, and revenue figures.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Data Preprocessing:</a:t>
            </a:r>
            <a:r>
              <a:rPr lang="en-US" sz="1800" dirty="0"/>
              <a:t> Clean the raw data using Power Query to handle missing values, remove duplicates, and format data types correctly.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b="1" dirty="0"/>
              <a:t>Deployment:</a:t>
            </a:r>
            <a:r>
              <a:rPr lang="en-US" sz="1800" dirty="0"/>
              <a:t> Create interactive KPIs, slicers, and charts that allow management to track performance and make immediate data-driven decisions.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400" b="1" dirty="0"/>
              <a:t>System Requirements:</a:t>
            </a:r>
            <a:r>
              <a:rPr lang="en-US" sz="2400" dirty="0"/>
              <a:t> A standard PC with Windows OS, minimum 8GB RAM, and a stable internet connection.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Primary Tool:</a:t>
            </a:r>
            <a:r>
              <a:rPr lang="en-US" sz="2400" dirty="0"/>
              <a:t> Microsoft Power BI Desktop (for data modeling, visualization, and report generation).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Data Processing Tools:</a:t>
            </a:r>
            <a:r>
              <a:rPr lang="en-US" sz="2400" dirty="0"/>
              <a:t> Power Query Editor (for ETL - Extract, Transform, Load processes).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/>
              <a:t>Analytical Engine:</a:t>
            </a:r>
            <a:r>
              <a:rPr lang="en-US" sz="2400" dirty="0"/>
              <a:t> DAX (Data Analysis Expressions) for creating custom measures and calculating KPIs.</a:t>
            </a:r>
            <a:endParaRPr lang="en-GB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1600" b="1" dirty="0"/>
              <a:t>Data Input &amp; Modeling:</a:t>
            </a:r>
            <a:r>
              <a:rPr lang="en-US" sz="1600" dirty="0"/>
              <a:t> Import raw CSV/Excel data into Power BI. Establish relationships between fact tables (bookings) and dimension tables (dates, channels) using a Star Schema model.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Calculations (DAX):</a:t>
            </a:r>
            <a:r>
              <a:rPr lang="en-US" sz="1600" dirty="0"/>
              <a:t> Formulate key performance indicators (KPIs) using DAX functions to calculate Total Revenue, Total Bookings, Cancellation Rate (%), and Average Daily Rate (ADR).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Visualization:</a:t>
            </a:r>
            <a:r>
              <a:rPr lang="en-US" sz="1600" dirty="0"/>
              <a:t> Design an interactive report canvas using Bar Charts, Donut Charts, and KPI Cards, integrated with Slicers for dynamic filtering by month and hotel type.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/>
              <a:t>Deployment Phase:</a:t>
            </a:r>
            <a:r>
              <a:rPr lang="en-US" sz="1600" dirty="0"/>
              <a:t> Finalize the dashboard layout, apply a professional theme (Dark Mode), and export the final report to PDF format for submission as per LMS guidelines.</a:t>
            </a:r>
            <a:endParaRPr lang="en-GB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Result: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7BCC6-679D-E737-CD5D-AFD40657C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284" y="1584325"/>
            <a:ext cx="7733308" cy="42513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FAE8F6-4682-E140-B6DB-CE3B85967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3230"/>
            <a:ext cx="6213231" cy="5533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BD13CD-DDE0-C25B-76CA-19964BEA4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385" y="1133230"/>
            <a:ext cx="5845908" cy="55332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Conclusion: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589" y="1622391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The implemented dashboard successfully transforms scattered raw booking data into actionable, easy-to-understand visual insights.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It clearly identifies which booking channels contribute to the highest revenue versus those with the highest cancellation rates.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Management can now leverage these insights to adjust their cancellation policies, target profitable customer segments, and optimize overall hotel profitability.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Future scope: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071" y="130443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spcBef>
                <a:spcPct val="20000"/>
              </a:spcBef>
              <a:spcAft>
                <a:spcPts val="600"/>
              </a:spcAft>
              <a:buNone/>
            </a:pPr>
            <a:endParaRPr lang="en-US" sz="2200" dirty="0">
              <a:latin typeface="Franklin Gothic Book" panose="020B0503020102020204"/>
            </a:endParaRPr>
          </a:p>
          <a:p>
            <a:pPr marL="0" indent="0">
              <a:buNone/>
            </a:pPr>
            <a:endParaRPr lang="en-GB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42870F-232D-A162-30FA-CF0618F59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47" y="1803415"/>
            <a:ext cx="1180818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Integration: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dashboard can be integrated directly with live Hotel Property Management Systems (PMS) or SQL databases for automated, real-time data refreshes.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US" b="1" dirty="0"/>
              <a:t>Predictive Analytics:</a:t>
            </a:r>
            <a:r>
              <a:rPr lang="en-US" dirty="0"/>
              <a:t> Incorporate Machine Learning models to predict the probability of a user canceling a booking at the very moment they make a reservation.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Sentiment Analysis:</a:t>
            </a:r>
            <a:r>
              <a:rPr lang="en-US" dirty="0"/>
              <a:t> Expand the scope by connecting customer review data to correlate service quality and ratings with return booking rates.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 panose="020B0604020202020204"/>
                <a:cs typeface="Arial" panose="020B0604020202020204"/>
              </a:rPr>
              <a:t>References:</a:t>
            </a:r>
            <a:endParaRPr lang="en-US" sz="40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IN" sz="2200" dirty="0">
                <a:latin typeface="Franklin Gothic Book" panose="020B0503020102020204"/>
              </a:rPr>
            </a:br>
            <a:r>
              <a:rPr lang="en-US" sz="2400" dirty="0"/>
              <a:t>Microsoft Power BI Official Documentation for DAX and Power Query guidelines.</a:t>
            </a:r>
            <a:br>
              <a:rPr lang="en-US" sz="2400" dirty="0"/>
            </a:br>
            <a:br>
              <a:rPr lang="en-US" sz="2400" dirty="0"/>
            </a:br>
            <a:r>
              <a:rPr lang="en-IN" sz="2400" dirty="0"/>
              <a:t>Kaggle: Hotel Booking Demand Dataset (for historical data patterns).</a:t>
            </a:r>
            <a:br>
              <a:rPr lang="en-IN" sz="2200" dirty="0">
                <a:latin typeface="Franklin Gothic Book" panose="020B0503020102020204"/>
              </a:rPr>
            </a:br>
            <a:br>
              <a:rPr lang="en-IN" sz="2200" dirty="0">
                <a:latin typeface="Franklin Gothic Book" panose="020B0503020102020204"/>
              </a:rPr>
            </a:br>
            <a:r>
              <a:rPr lang="en-IN" sz="2200" dirty="0">
                <a:latin typeface="Franklin Gothic Book" panose="020B0503020102020204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 panose="020B0503020102020204"/>
              </a:rPr>
              <a:t> </a:t>
            </a:r>
            <a:r>
              <a:rPr lang="en-IN" sz="2200" u="sng" dirty="0">
                <a:solidFill>
                  <a:srgbClr val="0070C0"/>
                </a:solidFill>
                <a:latin typeface="Franklin Gothic Book" panose="020B0503020102020204"/>
              </a:rPr>
              <a:t>Link</a:t>
            </a: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 panose="020B0503020102020204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 txBox="1"/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00" indent="-2286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1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00" indent="-1905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0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800" indent="-152400" algn="l" defTabSz="6096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3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990" indent="-173990">
              <a:buFont typeface="Arial" panose="020B0604020202020204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/>
          <p:cNvSpPr txBox="1"/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00" rtl="0" eaLnBrk="1" latinLnBrk="0" hangingPunct="1">
              <a:spcBef>
                <a:spcPct val="0"/>
              </a:spcBef>
              <a:buNone/>
              <a:defRPr sz="293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 panose="020B0604020202020204"/>
                <a:cs typeface="Arial" panose="020B0604020202020204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649</Words>
  <Application>Microsoft Office PowerPoint</Application>
  <PresentationFormat>Widescreen</PresentationFormat>
  <Paragraphs>44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Franklin Gothic Book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Conclusion:</vt:lpstr>
      <vt:lpstr>Future scope: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chandra diwakar</cp:lastModifiedBy>
  <cp:revision>104</cp:revision>
  <dcterms:created xsi:type="dcterms:W3CDTF">2024-05-21T11:55:00Z</dcterms:created>
  <dcterms:modified xsi:type="dcterms:W3CDTF">2026-03-21T15:23:36Z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  <property fmtid="{D5CDD505-2E9C-101B-9397-08002B2CF9AE}" pid="4" name="ICV">
    <vt:lpwstr>EE4E1345D65D4F85A477FE2A1A549664_12</vt:lpwstr>
  </property>
  <property fmtid="{D5CDD505-2E9C-101B-9397-08002B2CF9AE}" pid="5" name="KSOProductBuildVer">
    <vt:lpwstr>1033-12.2.0.23155</vt:lpwstr>
  </property>
</Properties>
</file>